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72591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Banking Support &amp;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Intelligence System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38328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NLP + Retrieval-Augmented Generation (RAG)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997196" y="4160520"/>
            <a:ext cx="219456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48056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Lakshana Murugesan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02920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Banking &amp; Finance   |   GUVI × HCL Capstone Project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630936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github.com/Lakshu27/powered-Banking-Support-Fraud-Intelligence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234440"/>
            <a:ext cx="47228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Business Value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77356" y="12801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77356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917436" y="1234440"/>
            <a:ext cx="47228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286000"/>
            <a:ext cx="47228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77356" y="23317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77356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917436" y="2286000"/>
            <a:ext cx="47228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Six-Step Pipeline Walkthrough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3832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337560"/>
            <a:ext cx="47228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Metrics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77356" y="33832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77356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917436" y="3337560"/>
            <a:ext cx="47228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from EDA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44348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4389120"/>
            <a:ext cx="47228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Compliance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77356" y="44348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277356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6917436" y="4389120"/>
            <a:ext cx="47228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receive large volumes of customer queries daily: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6916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transactions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488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application status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060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verification issues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0632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access problems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0" y="1143000"/>
            <a:ext cx="5029200" cy="4297680"/>
          </a:xfrm>
          <a:prstGeom prst="rect">
            <a:avLst>
              <a:gd name="adj" fmla="val 1702"/>
            </a:avLst>
          </a:prstGeom>
          <a:solidFill>
            <a:srgbClr val="F2F4F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0" y="1371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Problem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858000" y="1965960"/>
            <a:ext cx="4480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intelligent system exists that can understand customer queries, retrieve relevant financial knowledge, and generate accurate, context-aware responses while identifying risk levels in real time.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0" y="374904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Currently: manual, slow, inconsistent responses; delayed fraud detection; fragmented knowledge sources (policies, logs, past tickets).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Value &amp; Objective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475738" cy="1737360"/>
          </a:xfrm>
          <a:prstGeom prst="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22014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Minutes → Seconds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286000"/>
            <a:ext cx="22014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8698" y="1188720"/>
            <a:ext cx="2475738" cy="1737360"/>
          </a:xfrm>
          <a:prstGeom prst="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35858" y="1371600"/>
            <a:ext cx="22014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Significantly Reduced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3435858" y="2286000"/>
            <a:ext cx="22014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Workload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48756" y="1188720"/>
            <a:ext cx="2475738" cy="1737360"/>
          </a:xfrm>
          <a:prstGeom prst="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185916" y="1371600"/>
            <a:ext cx="22014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Faster, Real-Time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185916" y="2286000"/>
            <a:ext cx="22014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798814" y="1188720"/>
            <a:ext cx="2475738" cy="1737360"/>
          </a:xfrm>
          <a:prstGeom prst="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35974" y="1371600"/>
            <a:ext cx="22014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Improved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935974" y="2286000"/>
            <a:ext cx="22014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383280"/>
            <a:ext cx="110916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Build an AI system that automates customer support responses, detects potential fraud cases, and assists human agents with decision-making.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 — Real Data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225796" cy="1828800"/>
          </a:xfrm>
          <a:prstGeom prst="rect">
            <a:avLst>
              <a:gd name="adj" fmla="val 3000"/>
            </a:avLst>
          </a:prstGeom>
          <a:solidFill>
            <a:srgbClr val="F2F4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25880"/>
            <a:ext cx="47685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Tickets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737360"/>
            <a:ext cx="47685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rows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03120"/>
            <a:ext cx="47685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query_text, sentiment, risk_level, resolution_text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048756" y="1188720"/>
            <a:ext cx="5225796" cy="1828800"/>
          </a:xfrm>
          <a:prstGeom prst="rect">
            <a:avLst>
              <a:gd name="adj" fmla="val 3000"/>
            </a:avLst>
          </a:prstGeom>
          <a:solidFill>
            <a:srgbClr val="F2F4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77356" y="1325880"/>
            <a:ext cx="47685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277356" y="1737360"/>
            <a:ext cx="47685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rows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277356" y="2103120"/>
            <a:ext cx="47685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amount, merchant, location, time, fraud flags, fraud_label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5225796" cy="1828800"/>
          </a:xfrm>
          <a:prstGeom prst="rect">
            <a:avLst>
              <a:gd name="adj" fmla="val 3000"/>
            </a:avLst>
          </a:prstGeom>
          <a:solidFill>
            <a:srgbClr val="F2F4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429000"/>
            <a:ext cx="47685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Documents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840480"/>
            <a:ext cx="47685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files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206240"/>
            <a:ext cx="47685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handling, KYC/AML, Loan processing, Refund/dispute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48756" y="3291840"/>
            <a:ext cx="5225796" cy="1828800"/>
          </a:xfrm>
          <a:prstGeom prst="rect">
            <a:avLst>
              <a:gd name="adj" fmla="val 3000"/>
            </a:avLst>
          </a:prstGeom>
          <a:solidFill>
            <a:srgbClr val="F2F4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77356" y="3429000"/>
            <a:ext cx="47685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 Ground Truth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277356" y="3840480"/>
            <a:ext cx="47685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pairs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277356" y="4206240"/>
            <a:ext cx="47685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question, answer, policy_ref, risk_level, suggested_action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2743200"/>
            <a:ext cx="141732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74320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 rot="5400000">
            <a:off x="1981200" y="3163824"/>
            <a:ext cx="164592" cy="164592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2161032" y="2743200"/>
            <a:ext cx="141732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161032" y="274320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+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 rot="5400000">
            <a:off x="3593592" y="3163824"/>
            <a:ext cx="164592" cy="164592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3773424" y="2743200"/>
            <a:ext cx="141732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773424" y="274320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(Dual Index)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 rot="5400000">
            <a:off x="5205984" y="3163824"/>
            <a:ext cx="164592" cy="164592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5385816" y="2743200"/>
            <a:ext cx="141732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385816" y="274320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 rot="5400000">
            <a:off x="6818376" y="3163824"/>
            <a:ext cx="164592" cy="164592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15" name="Shape 13"/>
          <p:cNvSpPr/>
          <p:nvPr/>
        </p:nvSpPr>
        <p:spPr>
          <a:xfrm>
            <a:off x="6998208" y="2743200"/>
            <a:ext cx="141732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98208" y="274320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 rot="5400000">
            <a:off x="8430768" y="3163824"/>
            <a:ext cx="164592" cy="164592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18" name="Shape 16"/>
          <p:cNvSpPr/>
          <p:nvPr/>
        </p:nvSpPr>
        <p:spPr>
          <a:xfrm>
            <a:off x="8610600" y="2743200"/>
            <a:ext cx="141732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10600" y="274320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 rot="5400000">
            <a:off x="10043160" y="3163824"/>
            <a:ext cx="164592" cy="164592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21" name="Shape 19"/>
          <p:cNvSpPr/>
          <p:nvPr/>
        </p:nvSpPr>
        <p:spPr>
          <a:xfrm>
            <a:off x="10222992" y="2743200"/>
            <a:ext cx="1417320" cy="1005840"/>
          </a:xfrm>
          <a:prstGeom prst="roundRect">
            <a:avLst>
              <a:gd name="adj" fmla="val 7273"/>
            </a:avLst>
          </a:prstGeom>
          <a:solidFill>
            <a:srgbClr val="3D5AF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222992" y="274320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2062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src/pipeline.py orchestrates every step above for a single query — called by both the CLI and the Streamlit dashboard.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0292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Response  •  Risk Level  •  Suggested Action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606040"/>
            <a:ext cx="1054303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Six-Step Pipeline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68680" y="3566160"/>
            <a:ext cx="2011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3749040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detailed walkthrough of each stage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— NLP Layer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1887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Intent Classification + Sentiment Analysis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6583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Logistic Regression
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queries into Fraud / Loan / KYC / Account Access, and predicts sentiment across 6 real classes.
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98080" y="2103120"/>
            <a:ext cx="4114800" cy="3291840"/>
          </a:xfrm>
          <a:prstGeom prst="rect">
            <a:avLst>
              <a:gd name="adj" fmla="val 2222"/>
            </a:avLst>
          </a:prstGeom>
          <a:solidFill>
            <a:srgbClr val="F2F4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680960" y="22860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7680960" y="30632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classification accuracy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63840" y="3657600"/>
            <a:ext cx="338328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80960" y="37947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~20%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0" y="44348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accuracy — honest EDA finding: not predictable from this text alone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2 &amp; 3 — RAG Pipeline &amp; Response Generation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394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implementations: TF-IDF (offline) and FAISS + sentence-transformers (dense embeddings)
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index: policies and past cases indexed separately, merged at query time
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 real bug: shared index let duplicate tickets crowd out policy docs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0972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Generation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508760"/>
            <a:ext cx="5303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(free, no card) — openai/gpt-oss-20b
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(paid, optional)
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Extractive fallback — always works, no API needed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749040"/>
            <a:ext cx="11064240" cy="1737360"/>
          </a:xfrm>
          <a:prstGeom prst="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93192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  →  75%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3931920"/>
            <a:ext cx="7223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Policy-hit-rate improvement after fixing the shared-index bug — verified against all 20 real qa_pairs.json questions. The FAISS version reaches the same 75% but with 2.2× higher match confidence.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 — Risk Classification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trained models, not just rules: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2834640"/>
          </a:xfrm>
          <a:prstGeom prst="rect">
            <a:avLst>
              <a:gd name="adj" fmla="val 2581"/>
            </a:avLst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Ticket-Text Model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945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query_text + predicted category → risk_level (Low / Medium / High)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803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490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match (up from 75% — fixed by adding category as a feature)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394960" cy="2834640"/>
          </a:xfrm>
          <a:prstGeom prst="rect">
            <a:avLst>
              <a:gd name="adj" fmla="val 2581"/>
            </a:avLst>
          </a:prstGeom>
          <a:solidFill>
            <a:srgbClr val="F2F4F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92240" y="1783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Fraud Model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1945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 on amount, time, merchant, location, and fraud flags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8803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37490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 — reflects clean synthetic flag separation, not a live-data guarantee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663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fix verified: a CVV-phishing call previously misclassified Medium is now correctly flagged High.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5 &amp; 6 — Action Layer &amp; Interface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1887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 Layer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(category, risk_level) → suggested_action, derived directly from the real qa_pairs.json ground truth — not hand-invented rules.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1887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0936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040880" y="11887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Interface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1828800"/>
            <a:ext cx="5394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dashboard: query input, optional transaction details, and a results panel with Intent, Sentiment, color-coded Risk, Suggested Response, Suggested Action, and retrieved context.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11064240" cy="2194560"/>
          </a:xfrm>
          <a:prstGeom prst="rect">
            <a:avLst>
              <a:gd name="adj" fmla="val 4167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"Block card, raise dispute, escalate to fraud team"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5720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real action suggested for a ₹50,000 unauthorized-transaction query — verified live during testing.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606040"/>
            <a:ext cx="1054303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Key Findings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68680" y="3566160"/>
            <a:ext cx="2011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3749040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end-to-end on the real dataset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Metrics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4389120"/>
        </p:xfrm>
        <a:graphic>
          <a:graphicData uri="http://schemas.openxmlformats.org/drawingml/2006/table">
            <a:tbl>
              <a:tblPr/>
              <a:tblGrid>
                <a:gridCol w="6858000"/>
                <a:gridCol w="469087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Intent classification accuracy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(held-out)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Sentiment classification accuracy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~20% (honest finding)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Ticket-text risk classification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88% (held-out)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 fraud model accuracy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policy-hit-rate (TF-IDF / FAISS)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 both — FAISS 2.2× higher confidence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 intent match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/ 20 (100%)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 risk match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/ 20 (85%, up from 75%)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from EDA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64592" cy="164592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069848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sub_category field is corrupted (truncated templates) — excluded from modeling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47088"/>
            <a:ext cx="164592" cy="164592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728216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text is templated (66 unique phrasings / 200 tickets) — accuracy reflects template recognition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505456"/>
            <a:ext cx="164592" cy="164592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386584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not predictable from text alone in this dataset — reported honestly, not hidden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163824"/>
            <a:ext cx="164592" cy="164592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044952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 correlates strongly with category, weakly with sentiment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822192"/>
            <a:ext cx="164592" cy="164592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370332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is_international + geo_anomaly_flag perfectly separate fraud — clean synthetic signal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4480560"/>
            <a:ext cx="164592" cy="164592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4361688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retrieval index let duplicate tickets crowd out policies — fixed with dual indexing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5138928"/>
            <a:ext cx="164592" cy="164592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5020056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Access has no dedicated policy document — a real, flagged coverage gap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 &amp; Compliance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514344" cy="960120"/>
          </a:xfrm>
          <a:prstGeom prst="roundRect">
            <a:avLst>
              <a:gd name="adj" fmla="val 7619"/>
            </a:avLst>
          </a:prstGeom>
          <a:solidFill>
            <a:srgbClr val="F2F4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324002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 · pandas · scikit-learn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37304" y="1188720"/>
            <a:ext cx="3514344" cy="960120"/>
          </a:xfrm>
          <a:prstGeom prst="roundRect">
            <a:avLst>
              <a:gd name="adj" fmla="val 7619"/>
            </a:avLst>
          </a:prstGeom>
          <a:solidFill>
            <a:srgbClr val="F2F4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474464" y="1188720"/>
            <a:ext cx="324002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&amp; sentence-transformers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125968" y="1188720"/>
            <a:ext cx="3514344" cy="960120"/>
          </a:xfrm>
          <a:prstGeom prst="roundRect">
            <a:avLst>
              <a:gd name="adj" fmla="val 7619"/>
            </a:avLst>
          </a:prstGeom>
          <a:solidFill>
            <a:srgbClr val="F2F4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63128" y="1188720"/>
            <a:ext cx="324002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vector search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3514344" cy="960120"/>
          </a:xfrm>
          <a:prstGeom prst="roundRect">
            <a:avLst>
              <a:gd name="adj" fmla="val 7619"/>
            </a:avLst>
          </a:prstGeom>
          <a:solidFill>
            <a:srgbClr val="F2F4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377440"/>
            <a:ext cx="324002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(normalized, 8 indexes)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37304" y="2377440"/>
            <a:ext cx="3514344" cy="960120"/>
          </a:xfrm>
          <a:prstGeom prst="roundRect">
            <a:avLst>
              <a:gd name="adj" fmla="val 7619"/>
            </a:avLst>
          </a:prstGeom>
          <a:solidFill>
            <a:srgbClr val="F2F4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74464" y="2377440"/>
            <a:ext cx="324002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&amp; Anthropic Claude LLMs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25968" y="2377440"/>
            <a:ext cx="3514344" cy="960120"/>
          </a:xfrm>
          <a:prstGeom prst="roundRect">
            <a:avLst>
              <a:gd name="adj" fmla="val 7619"/>
            </a:avLst>
          </a:prstGeom>
          <a:solidFill>
            <a:srgbClr val="F2F4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63128" y="2377440"/>
            <a:ext cx="324002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794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Guideline Compliance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251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PEP8, modular, documented code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63600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try/except error handling throughout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020056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SQL database with indexes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404104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Streamlit UI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78815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README + GitHub version control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38328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Live Demo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997196" y="4114800"/>
            <a:ext cx="219456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38912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Lakshana Murugesan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93776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github.com/Lakshu27/powered-Banking-Support-Fraud-Intelligence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2026-09-08T00:53:46Z</dcterms:created>
  <dcterms:modified xsi:type="dcterms:W3CDTF">2026-09-08T00:53:46Z</dcterms:modified>
</cp:coreProperties>
</file>